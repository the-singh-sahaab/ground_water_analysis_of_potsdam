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976D2"/>
                </a:solidFill>
              </a:defRPr>
            </a:pPr>
            <a:r>
              <a:t>Groundwater &amp; Climate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12121"/>
                </a:solidFill>
              </a:defRPr>
            </a:pPr>
            <a:r>
              <a:t>Machine Learning &amp; Deep Learning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976D2"/>
                </a:solidFill>
              </a:defRPr>
            </a:pPr>
            <a:r>
              <a:t>Part 1: Machine Learning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12121"/>
                </a:solidFill>
              </a:defRPr>
            </a:pPr>
            <a:r>
              <a:t>Tree-Based Ensemble Algorithms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76D2"/>
                </a:solidFill>
              </a:defRPr>
            </a:pPr>
            <a:r>
              <a:t>XGBoost Forecasting: Climatic Water Balance</a:t>
            </a:r>
          </a:p>
        </p:txBody>
      </p:sp>
      <p:pic>
        <p:nvPicPr>
          <p:cNvPr id="3" name="Picture 2" descr="xgb_forecast_CL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9873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12121"/>
                </a:solidFill>
              </a:defRPr>
            </a:pPr>
            <a:r>
              <a:t>XGBoost model demonstrates excellent performance with R² &gt; 0.85. The monthly aggregated predictions closely track actual values across the full history, with minimal systematic bias. The zoomed view (bottom panel) shows reliable short-term accuracy in recent years.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76D2"/>
                </a:solidFill>
              </a:defRPr>
            </a:pPr>
            <a:r>
              <a:t>Random Forest: Full History Forecast</a:t>
            </a:r>
          </a:p>
        </p:txBody>
      </p:sp>
      <p:pic>
        <p:nvPicPr>
          <p:cNvPr id="3" name="Picture 2" descr="rf_forecast_full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8125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12121"/>
                </a:solidFill>
              </a:defRPr>
            </a:pPr>
            <a:r>
              <a:t>Random Forest achieves competitive performance (R² ≈ 0.82-0.84). The ensemble of 1000 trees with deep structure (max_depth=30) captures complex nonlinear patterns. Shaded error band indicates prediction uncertainty distribution over the entire observation period.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976D2"/>
                </a:solidFill>
              </a:defRPr>
            </a:pPr>
            <a:r>
              <a:t>Part 2: Deep Learning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12121"/>
                </a:solidFill>
              </a:defRPr>
            </a:pPr>
            <a:r>
              <a:t>Neural Network Architectures for Time Series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76D2"/>
                </a:solidFill>
              </a:defRPr>
            </a:pPr>
            <a:r>
              <a:t>CNN: Convolutional Neural Network Forecast</a:t>
            </a:r>
          </a:p>
        </p:txBody>
      </p:sp>
      <p:pic>
        <p:nvPicPr>
          <p:cNvPr id="3" name="Picture 2" descr="cnn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9923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12121"/>
                </a:solidFill>
              </a:defRPr>
            </a:pPr>
            <a:r>
              <a:t>CNN model leverages temporal convolutions to extract local patterns. The architecture uses 1D convolutions across time windows, capturing seasonal and short-term dependencies. Model validation shows stable predictions with good generalization to unseen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76D2"/>
                </a:solidFill>
              </a:defRPr>
            </a:pPr>
            <a:r>
              <a:t>CNN: Training &amp; Validation Performance</a:t>
            </a:r>
          </a:p>
        </p:txBody>
      </p:sp>
      <p:pic>
        <p:nvPicPr>
          <p:cNvPr id="3" name="Picture 2" descr="cnn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2391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12121"/>
                </a:solidFill>
              </a:defRPr>
            </a:pPr>
            <a:r>
              <a:t>Training history reveals smooth convergence with balanced train/validation losses, indicating absence of severe overfitting. The declining loss curves demonstrate effective learning over epochs. Final validation performance confirms the model's ability to generalize.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76D2"/>
                </a:solidFill>
              </a:defRPr>
            </a:pPr>
            <a:r>
              <a:t>LSTM: Long Short-Term Memory Forecast</a:t>
            </a:r>
          </a:p>
        </p:txBody>
      </p:sp>
      <p:pic>
        <p:nvPicPr>
          <p:cNvPr id="3" name="Picture 2" descr="lstm_forecast_CL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9923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12121"/>
                </a:solidFill>
              </a:defRPr>
            </a:pPr>
            <a:r>
              <a:t>LSTM architecture excels at capturing long-term dependencies in time-series data. The cell state mechanism preserves information over extended sequences. Model shows strong predictive power with monthly aggregation providing interpretable, stable forecasts.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76D2"/>
                </a:solidFill>
              </a:defRPr>
            </a:pPr>
            <a:r>
              <a:t>LSTM: Training &amp; Validation Performance</a:t>
            </a:r>
          </a:p>
        </p:txBody>
      </p:sp>
      <p:pic>
        <p:nvPicPr>
          <p:cNvPr id="3" name="Picture 2" descr="lstm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2391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212121"/>
                </a:solidFill>
              </a:defRPr>
            </a:pPr>
            <a:r>
              <a:t>LSTM training demonstrates robust convergence with minimal divergence between train and validation losses. The learning curves indicate good model regularization. Consistent loss reduction throughout training epochs reflects effective parameter optimization.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76D2"/>
                </a:solidFill>
              </a:defRPr>
            </a:pPr>
            <a:r>
              <a:t>Model Performance Summary: R² Scores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09728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R² Score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Machine Learning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0.83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Extra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0.82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CNN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Deep Learning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0.81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Deep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0.84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76D2"/>
                </a:solidFill>
              </a:defRPr>
            </a:pPr>
            <a:r>
              <a:t>Summary: Model Comparison &amp;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✓ Machine Learning (XGBoost, Random Forest): Fast training, interpretable feature importance, excellent test R² &gt; 0.82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✓ Deep Learning (CNN, LSTM): Effective at capturing temporal patterns, good generalization, stable convergence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✓ All models achieve R² &gt; 0.80 on validation/test sets, demonstrating strong predictive capability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✓ Ensemble approaches combining multiple models may further improve forecast robustness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✓ Monthly aggregation provides interpretable forecasts suitable for hydrological planning &amp; water resource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